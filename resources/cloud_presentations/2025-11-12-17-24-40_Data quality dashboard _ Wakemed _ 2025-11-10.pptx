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omments/modernComment_7FFFFFE1_B550567A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27"/>
    <p:sldMasterId id="2147483704" r:id="rId28"/>
  </p:sldMasterIdLst>
  <p:notesMasterIdLst>
    <p:notesMasterId r:id="rId33"/>
  </p:notesMasterIdLst>
  <p:handoutMasterIdLst>
    <p:handoutMasterId r:id="rId34"/>
  </p:handoutMasterIdLst>
  <p:sldIdLst>
    <p:sldId id="2147483612" r:id="rId29"/>
    <p:sldId id="2147483617" r:id="rId30"/>
    <p:sldId id="2147483618" r:id="rId31"/>
    <p:sldId id="214748361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2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F8592A-869D-3CBE-06B6-1F41F2733B7F}" name="Felipe Platzer" initials="FP" userId="S::felipe.platzer@partssource.com::48042b59-0d57-44f2-90d5-b62a10cab7a7" providerId="AD"/>
  <p188:author id="{29F5AA4D-B373-562A-37D0-EEBBA0905474}" name="Nelson Bowers" initials="NB" userId="S::nbowers@partssource.com::5cc05da3-2814-4488-9414-d5bc0fbd7fa6" providerId="AD"/>
  <p188:author id="{A8BB2A8A-1F54-1696-B9D2-6C7FC6783418}" name="Nelson Bowers" initials="NB" userId="S::nbowers@mypartssource.com::5cc05da3-2814-4488-9414-d5bc0fbd7fa6" providerId="AD"/>
  <p188:author id="{381AA094-A467-2AEB-FCB0-E82AFB233381}" name="James Kollai" initials="JK" userId="S::jkollai@mypartssource.com::5a7941f4-462c-4a73-b6e5-d0c69b12fe9e" providerId="AD"/>
  <p188:author id="{E0D7959E-BA90-7BF4-07E3-E6FC698431EF}" name="Ashraf Sobeh" initials="AS" userId="S::asobeh@partssource.com::e5e7d10b-c519-4ea7-bf31-69338f7e795e" providerId="AD"/>
  <p188:author id="{723B2FAC-2B64-9F76-7190-70B9B6FC9DF6}" name="Mike Zamis" initials="MZ" userId="S::mzamis@partssource.com::af8a3d5b-6b41-4971-ba1d-7c7c9679155b" providerId="AD"/>
  <p188:author id="{19BC99AE-7EC3-30A1-C37A-4F38044A1EB0}" name="David Brennan" initials="DB" userId="S::dbrennan@mypartssource.com::90511957-d719-4678-a884-a145e8608c9d" providerId="AD"/>
  <p188:author id="{EC28B4B0-6701-2EAD-4AFD-41CFFF8EDE08}" name="Felipe Platzer" initials="FP" userId="S::Felipe.Platzer@partssource.com::48042b59-0d57-44f2-90d5-b62a10cab7a7" providerId="AD"/>
  <p188:author id="{978CEBBF-3F15-87E6-70BB-F48D5A545794}" name="Jared Koslosky" initials="" userId="S::jkoslosky@partssource.com::9ddfb180-6d55-4efc-bafc-8fdec0533ea0" providerId="AD"/>
  <p188:author id="{52BC6FE5-74CA-0901-CBD4-E734A187005A}" name="Kier Selinsky" initials="" userId="S::kselinsky@partssource.com::bd710dab-a9ce-4a29-849a-3f09a791ede3" providerId="AD"/>
  <p188:author id="{8229FFFA-D43B-ECDC-68F8-40954532A49C}" name="David Brennan" initials="DB" userId="S::dbrennan@partssource.com::90511957-d719-4678-a884-a145e8608c9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CC7E"/>
    <a:srgbClr val="F98871"/>
    <a:srgbClr val="FCB679"/>
    <a:srgbClr val="F8766D"/>
    <a:srgbClr val="6DC17C"/>
    <a:srgbClr val="FFFFFF"/>
    <a:srgbClr val="63BE7B"/>
    <a:srgbClr val="A4D17F"/>
    <a:srgbClr val="C9DC81"/>
    <a:srgbClr val="F9EA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4471E2-9EE5-499C-9B42-38E3B0CBD3E3}" v="1" dt="2025-11-12T22:53:48.541"/>
    <p1510:client id="{564F7679-1C0C-BA09-F4D2-C3EBDA7680FC}" v="71" dt="2025-11-12T13:26:59.927"/>
    <p1510:client id="{80DDFE54-98AB-44A3-82DE-FBFBD2E31172}" v="6" dt="2025-11-12T19:34:30.7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52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customXml" Target="../customXml/item26.xml"/><Relationship Id="rId39" Type="http://schemas.microsoft.com/office/2015/10/relationships/revisionInfo" Target="revisionInfo.xml"/><Relationship Id="rId21" Type="http://schemas.openxmlformats.org/officeDocument/2006/relationships/customXml" Target="../customXml/item21.xml"/><Relationship Id="rId34" Type="http://schemas.openxmlformats.org/officeDocument/2006/relationships/handoutMaster" Target="handoutMasters/handoutMaster1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customXml" Target="../customXml/item20.xml"/><Relationship Id="rId29" Type="http://schemas.openxmlformats.org/officeDocument/2006/relationships/slide" Target="slides/slid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slide" Target="slides/slide4.xml"/><Relationship Id="rId37" Type="http://schemas.openxmlformats.org/officeDocument/2006/relationships/theme" Target="theme/theme1.xml"/><Relationship Id="rId40" Type="http://schemas.microsoft.com/office/2018/10/relationships/authors" Target="author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slideMaster" Target="slideMasters/slideMaster2.xml"/><Relationship Id="rId36" Type="http://schemas.openxmlformats.org/officeDocument/2006/relationships/viewProps" Target="viewProps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slide" Target="slides/slide3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slideMaster" Target="slideMasters/slideMaster1.xml"/><Relationship Id="rId30" Type="http://schemas.openxmlformats.org/officeDocument/2006/relationships/slide" Target="slides/slide2.xml"/><Relationship Id="rId35" Type="http://schemas.openxmlformats.org/officeDocument/2006/relationships/presProps" Target="presProps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466337491522153E-2"/>
          <c:y val="3.6938051695875745E-2"/>
          <c:w val="0.90272492342310606"/>
          <c:h val="0.869443508824179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,\k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14500</c:v>
                </c:pt>
                <c:pt idx="1">
                  <c:v>15232</c:v>
                </c:pt>
                <c:pt idx="2">
                  <c:v>25030</c:v>
                </c:pt>
                <c:pt idx="3">
                  <c:v>29254</c:v>
                </c:pt>
                <c:pt idx="4">
                  <c:v>28896</c:v>
                </c:pt>
                <c:pt idx="5">
                  <c:v>30182</c:v>
                </c:pt>
                <c:pt idx="6">
                  <c:v>32340</c:v>
                </c:pt>
                <c:pt idx="7">
                  <c:v>12039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10-4E2D-B886-7858E9A4C9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7"/>
        <c:axId val="1355518304"/>
        <c:axId val="1355512544"/>
      </c:barChart>
      <c:catAx>
        <c:axId val="1355518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pPr>
            <a:endParaRPr lang="en-US"/>
          </a:p>
        </c:txPr>
        <c:crossAx val="1355512544"/>
        <c:crosses val="autoZero"/>
        <c:auto val="1"/>
        <c:lblAlgn val="ctr"/>
        <c:lblOffset val="100"/>
        <c:noMultiLvlLbl val="0"/>
      </c:catAx>
      <c:valAx>
        <c:axId val="13555125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555183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7FFFFFE1_B550567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8CCB5A0-E259-41DA-A2D6-08F33476D3F8}" authorId="{29F5AA4D-B373-562A-37D0-EEBBA0905474}" status="resolved" created="2025-11-07T15:20:46.102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041941114" sldId="2147483617"/>
      <ac:graphicFrameMk id="2" creationId="{E566FBCE-B54F-60D3-BC33-4395994EAA96}"/>
      <ac:tblMk/>
      <ac:tcMk rowId="344036261" colId="1910757401"/>
      <ac:txMk cp="0" len="18">
        <ac:context len="20" hash="336135196"/>
      </ac:txMk>
    </ac:txMkLst>
    <p188:txBody>
      <a:bodyPr/>
      <a:lstStyle/>
      <a:p>
        <a:r>
          <a:rPr lang="en-US"/>
          <a:t>[@Felipe Platzer] what is driving such a low MTBF? I assume it’s because there’s 0 or 1 WO for the asset. Might be worth adding a footnote about this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F537C2-DCF6-E161-8156-4D670A24FE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59EBE3-57C6-8FF4-F04C-16D529AB82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D00F9-D1AF-43F4-9FCA-9D7D3D0351C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4A49E2-D52E-D67A-B1A5-A076992D56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D39A1-5A01-7070-901F-297BCE179E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E566C-AE4E-4785-B41F-230D67A9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429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C9041-E3EE-4A85-AA7C-786850D3F7D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99720-FC37-4E36-ACBA-4CE88B208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31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0463" y="0"/>
            <a:ext cx="6336849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1794293"/>
            <a:ext cx="5677648" cy="22946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6D4A52FC-C321-EA9E-81EC-8B823293E6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4189672"/>
            <a:ext cx="5677648" cy="3650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000" b="0" i="0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C5450-B1DF-E608-9B81-C18BDEC529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87" y="1458138"/>
            <a:ext cx="2054554" cy="20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586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FD3679-D40B-7D7E-DE4E-E30727B35D42}"/>
              </a:ext>
            </a:extLst>
          </p:cNvPr>
          <p:cNvSpPr/>
          <p:nvPr userDrawn="1"/>
        </p:nvSpPr>
        <p:spPr>
          <a:xfrm>
            <a:off x="0" y="2264987"/>
            <a:ext cx="5988045" cy="22707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988045" y="1"/>
            <a:ext cx="6203953" cy="22814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2741505"/>
            <a:ext cx="5418856" cy="12130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0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195A66-C691-4FF8-AA3F-0D78DAC31CBE}"/>
              </a:ext>
            </a:extLst>
          </p:cNvPr>
          <p:cNvSpPr/>
          <p:nvPr userDrawn="1"/>
        </p:nvSpPr>
        <p:spPr>
          <a:xfrm>
            <a:off x="0" y="4535743"/>
            <a:ext cx="2414902" cy="23338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14AE2F-C93B-767E-6B3D-C8588D6AFB3E}"/>
              </a:ext>
            </a:extLst>
          </p:cNvPr>
          <p:cNvSpPr/>
          <p:nvPr userDrawn="1"/>
        </p:nvSpPr>
        <p:spPr>
          <a:xfrm>
            <a:off x="10752210" y="2260192"/>
            <a:ext cx="1439789" cy="22814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00A177-EF9D-84D4-279A-27C843F8ED5D}"/>
              </a:ext>
            </a:extLst>
          </p:cNvPr>
          <p:cNvSpPr/>
          <p:nvPr userDrawn="1"/>
        </p:nvSpPr>
        <p:spPr>
          <a:xfrm>
            <a:off x="2414902" y="6200774"/>
            <a:ext cx="3573140" cy="6688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7BF73217-191C-2E39-90BA-7CBE5C398D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88047" y="2276617"/>
            <a:ext cx="2349262" cy="225912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70D3BBC8-5067-743F-069F-AE73A9EF3CD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988045" y="4535743"/>
            <a:ext cx="6203953" cy="2333883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6B4967-B6F9-690E-596C-0576D6DC3CE1}"/>
              </a:ext>
            </a:extLst>
          </p:cNvPr>
          <p:cNvSpPr/>
          <p:nvPr userDrawn="1"/>
        </p:nvSpPr>
        <p:spPr>
          <a:xfrm>
            <a:off x="8337308" y="2263164"/>
            <a:ext cx="2414902" cy="22755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90AB2E-25D2-2A07-2E35-94499155F9C1}"/>
              </a:ext>
            </a:extLst>
          </p:cNvPr>
          <p:cNvSpPr/>
          <p:nvPr userDrawn="1"/>
        </p:nvSpPr>
        <p:spPr>
          <a:xfrm>
            <a:off x="2414901" y="4535146"/>
            <a:ext cx="3573147" cy="16656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A8943A-B234-C875-19DE-82C2857D13F3}"/>
              </a:ext>
            </a:extLst>
          </p:cNvPr>
          <p:cNvSpPr/>
          <p:nvPr userDrawn="1"/>
        </p:nvSpPr>
        <p:spPr>
          <a:xfrm>
            <a:off x="0" y="-11633"/>
            <a:ext cx="5988045" cy="22766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29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57382" y="2708275"/>
            <a:ext cx="6677236" cy="8586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34419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5330116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8763944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5329375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8763203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060575"/>
            <a:ext cx="494440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4262998"/>
            <a:ext cx="494440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2919086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741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3434569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0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3433828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430" y="2060575"/>
            <a:ext cx="469753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430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4430" y="4262998"/>
            <a:ext cx="469753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4061605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63DE2AF5-D3B1-9B23-8922-251705029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3EEF236-5954-7418-240B-BEF572FF18C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rgbClr val="F7F7F7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7B245B-8B79-88F4-AECE-5246E42057D3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7B9464E-22BE-4B4E-804E-821ABD2315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B69A333-6C22-65B9-113C-5F13F987B993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19B82BC-10C8-8BE5-0E84-442E0C380BD7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41755BC-FEB9-38C2-5347-34650DFDD44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3884987-739F-C98D-A4EF-2F11F18604EB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AD0392B-588E-EF91-8BE4-A73AEDAEA45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2CABE4-04DB-A75F-30F3-183909024637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39B745A-B036-8261-AB46-47AD9FCD8CDC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12C3E01-9523-4572-1357-D7657DE16EC4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7D4B21-B085-784D-56F2-11936636524A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D35BD76-31CD-282E-FBD0-60A4E105F5CC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44897E9-B513-FBCE-8753-24F37869933D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750231-595F-440D-934A-97098726D15E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0D937A0-AABB-C687-A8DA-79465B958D7A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AA731ED-13CE-418D-7BED-D0C8E27B08E3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3C1437F-017C-6FDD-F970-185E825B1216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8389B7F-4D19-7F3E-376E-3B44EBC9887E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69907-ABAA-7D8F-2E14-AA9308DC87CC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EE308DA-D062-A3DE-63CB-24F2115EA224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D56F782-0B4C-720F-BF95-1824BAF160E8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52427D-35EC-FCC4-E8E3-3ADBD6785ED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4575FF5-61E9-AE78-CC61-33FCB1BEEA24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792A563-D3B1-CF96-5BD5-42DB4A2213E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D99039E-BA35-DFEB-23B9-3F255FA98030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BA9D979-1261-DECC-BEBC-EA1F7F36FB66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614A15A-17A2-DCA8-19B4-D4493C792B35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048D6E7-CB6D-0DE6-95E8-F7ED75642981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7CEE48D-5597-5EB8-4981-8808FDE576D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925CF9C-795D-1934-BEA7-0ADC6B8CC812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579B81B-6958-5F15-2DAB-587AD695EC89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C7D6BCA-4A42-C18A-91A4-719AB5817C3F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325AD82-BA4B-4A20-44B7-7D990F7283EB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D48E474-C99F-67B0-EE08-C388C5EDD067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BC04023-BDC1-506E-B1A5-7BEE15B5BD54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92438D8-20D8-EDE4-D3A2-FD9D7AF7207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CBC04B3-A89D-D6E8-724A-D4FCEBBC54F7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58F1DDD-C2F8-6E46-E16D-54E79335AAAF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A2664E8-191D-FF21-5CFD-BFF9EEA9D9E4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8934A03-8481-A1C9-EAFB-6B353446EDFB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2323A6D-63F1-9873-31C2-B7C3038FDCE8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4BA87C3-4204-C048-0E81-9800F77D9A53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83FCB45-8654-CCC5-C34F-3A2BE471D477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697C01D-E952-2FB4-05B5-284881E44DD7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D8BB04F-DFA6-3DB1-48B8-A5C16878A7D2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74336AD-48DC-E442-BB2F-32E8D32DC7EA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AE150B4-B0D3-6D1C-16EE-4FC850235792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64464E5-4B41-272D-403A-1FB18334432B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F2F7AB4-3916-07BF-1C9F-CF83B2DF3260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E5C4C65-D7C2-668E-9063-5D4962CB1AF0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720AC23-1EC7-6417-D1F3-9758B7023C40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15BD20A-228A-8CEC-2ED9-DEDBA9B7B69B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11D7B8C-F804-F4E9-3946-91490DABB151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86E8223-B647-EDC3-B820-5EB29BC681C0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B0DD339-9EFF-25F0-1961-6AE6A9C250FF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53D326E-9B30-3DEF-A7A0-195314BFC192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810910F5-CD38-8B07-C147-618D9CEC65EF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46ECDC1-04C1-9311-6A4B-17C691712479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89EFD236-33AD-7496-2E91-B899CE386E37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8D50CFAB-B8A6-6843-D405-72CA43BDFE53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918348CB-CB33-8CCB-53CC-D690F155AB2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3A31A87-493F-C4AC-52E7-6B01C082F122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C38BF966-F026-132E-237E-CAAC05229BF8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BB1546E0-6818-9D5D-C109-238503AE3A4C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F6D3C643-94F6-3145-9E55-ED4723EAB1E8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77F5121-F87E-9889-D1E3-38E75ADE2D8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0535D129-76FE-7C17-9468-678DC3234393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92ACC025-9BEE-623B-35EC-B3662F3FF3F0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428AF8FB-BC93-15E2-012F-611B5C5D55BD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F7461D11-AAC3-3E6E-7208-55DCD7D1094C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0C23A6-1116-8F74-EF6E-0B7CF9B1014B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05515510-F67D-2000-6CBA-D8E95F3D0E81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884CBC29-4A51-4510-2361-78E249DDE1B4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23A63B4-6509-3F6A-8C4D-55212EB9752A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CE47C519-520A-BA20-9654-7A333F28DF15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EFFE2D4-2637-DAF2-E478-7E84B5E862D0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897CC49-97CF-E984-8254-99BF17CE04D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854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533618B-C233-50B6-DD61-38FB977750A8}"/>
              </a:ext>
            </a:extLst>
          </p:cNvPr>
          <p:cNvSpPr/>
          <p:nvPr userDrawn="1"/>
        </p:nvSpPr>
        <p:spPr>
          <a:xfrm>
            <a:off x="0" y="1184627"/>
            <a:ext cx="12192001" cy="5109220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-177350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654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26CB85-3184-03D2-9101-1EBD686FCFD4}"/>
              </a:ext>
            </a:extLst>
          </p:cNvPr>
          <p:cNvSpPr/>
          <p:nvPr userDrawn="1"/>
        </p:nvSpPr>
        <p:spPr>
          <a:xfrm>
            <a:off x="0" y="1638579"/>
            <a:ext cx="12192001" cy="3766741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8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bg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pic>
        <p:nvPicPr>
          <p:cNvPr id="4" name="Picture 3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1FF9B61E-5EDA-3812-7F39-6A3CA8C0C7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42" y="6378487"/>
            <a:ext cx="1697184" cy="272014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9352C1-077B-F479-9407-4C8A7083A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E9676B-C696-77FF-6E03-63C4668CBD60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bg1">
              <a:alpha val="5000"/>
            </a:schemeClr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AC9867C-AB62-53D6-57B3-4B59EEECA66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967D429-E11E-DE6B-7697-B97066E46596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156F5D2-E925-B9BB-1F5F-81E6463B92F6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D30DB54-B498-7183-7D25-495D45296D63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29D7138-2C78-8861-B46C-5DB8510E85ED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461420D-DFF2-1816-03F2-CA0180DB88DA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215BF24-52A6-C73E-70DA-FFEB891B053D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D660FC9-0AB7-68BF-2A7E-8E3E237AEA6B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FCA36F5-91C7-556E-BCC7-7DBE8AB29FF6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23EB58C-0411-0EB3-35AF-0AA511751603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93143AA-9CDE-9835-9740-5796006C8FB2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791F0DC-B305-DE70-7B12-362FA638C53B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94B4D1D-D2B9-4F35-93D8-890DE14225B4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9F83551-F2ED-E05D-0848-E72F95E01E86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3884397-D60C-2A97-0027-A6AC56D1C60E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DB0F185-8FBB-1ACE-628B-36BEC15EC19D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28E5CA8-F096-6300-DE3E-061514FE41F3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850D47D-9D65-917A-E24C-38B9BF40C78F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7D1C34-4869-5D80-7241-365B4832A6EB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35D1B1-74E6-6317-B08F-5B0B53F0BDDC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029EFE0-DB7D-67E2-B044-3E7C799D3866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9B084B6-C27A-FEBD-0B8E-1224A4291179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CFB2049-282F-DA06-DCEC-FF12120C8659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AAEA7E9-A11B-F1E9-5167-232746827FD7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B4AD528-9A55-7E73-CB48-AFBC42D2D366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823313-CBD7-0C46-E0E1-4746EA53ABB1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3129EA2-76A8-73AC-2F0C-2D3C0FA5ED7D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FC6F3C5-22FC-1CC4-EC13-5AAF24148298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A52317B-C620-44DB-2BD6-5CFAA55AF88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FB29AE7-7DB4-FE6D-35F2-4A9824501AA4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130639B-ED32-BD63-9F6A-C9A7246D9D96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83B9E39-2476-17F2-FE2E-C99699DC57F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E5A110A-45FD-972B-00F3-CD0311CAF5B6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E52023B-EE0D-DFC6-1061-ADFC42612E64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ACAA8B4-46C0-AE73-0752-4E7AC1293ED0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0D178D0-B646-E1B1-D493-45F47D8BC90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743A02B-E2D7-8BB4-C1F8-0D67B0606A55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FBDAD8D-96B7-2A64-EECC-629239B0D1E9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113E650-BEA7-62F7-C8C8-C376FCECFAF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CDA096F-B63F-070B-8D44-E9AD37BFE302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7FC3266-8A4D-D879-1871-C80EE9E0DD87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079540B-F14C-E63A-CC2C-9C30C16B64E1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9559E18-7616-A6B6-C333-85120172712C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83FA048-190D-4487-3F5A-5217C2F33C9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F0112A3-6194-BB04-DA34-07CD25B1AB4D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D995A94-DDA2-2FAD-56E1-F94265B68223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215D860-008A-C303-C64F-B5C957FE84F7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6B73EE9-084B-24DB-4B74-25594CB7DB03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3C3078E-541B-96D1-41AC-A79FA49D7D61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072285F-27D0-1A2A-6ECB-6CDF0ED94606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5DFC5B-AFA4-DE99-988C-8DF59EAEA03C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04FE6B4-5D30-5228-4BB6-B3056A426AF2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3F80BB9-9C80-5CE9-E510-42493E29D17A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F47527C-F63C-ACD2-37AB-5817B3AF7566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13BA99E-13FE-7FB8-CA5F-E083D6B96F1D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768E69F-FE6C-54F5-85CB-096264203E73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CF3D1CC-BD95-93FA-793A-3AB6CDB86790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F00A131-1113-CE0D-AF40-56B75F238FF2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85441954-A6E4-217B-4D1F-679245035C5A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6BD64CD-09A5-1DD8-F090-C4D9BC2D678D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BF81D9E-8243-B413-EBAC-A2F13E739B65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8983BCC2-9B06-5EED-5A2E-67B60DD49214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96F60C91-D501-1F6B-FFC0-BBDF8C48F1D7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78CD1EC3-F115-3420-310F-8CA628BEB84A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D6A6C5E-00F2-92B4-1D04-8FBCC1FB7B73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FA193CD-79CB-2AAC-1602-17AB78D44C5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C5397435-AD93-2E1D-8558-21C91B079F21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D45AE4D-4811-5BF4-3F8F-671DBA80C515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35BC48E-227B-A962-E287-E4EAAD799403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C0C99A4-1E19-8ABC-9D47-5DD8A1050169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EB821136-8D23-E9D3-1EAF-0DDF01D5D157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BFFC22F-E859-9DBF-1DEA-625683555326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312DE7-844C-B295-FA8B-E06CDF1FFA70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22D87930-5D41-353E-A762-75DD339FCB56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68BC656-9BDF-BAC6-5544-21BB392DB997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64ED104-6032-7799-3BAF-D93848F3A153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07EDAB9-8D0B-4DCF-C23E-1154CD96132A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5392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33374"/>
            <a:ext cx="5773737" cy="11244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1505814"/>
            <a:ext cx="5773738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40463" y="0"/>
            <a:ext cx="5951537" cy="678338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88F052C1-EA4D-A4BC-C9D3-225312AD3C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2" y="2234242"/>
            <a:ext cx="5773738" cy="3588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0" i="0" kern="1200" dirty="0" smtClean="0">
                <a:solidFill>
                  <a:schemeClr val="tx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s-MX"/>
              <a:t>B</a:t>
            </a:r>
            <a:r>
              <a:rPr lang="en-US" err="1"/>
              <a:t>ase</a:t>
            </a:r>
            <a:r>
              <a:rPr lang="en-US"/>
              <a:t> text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62884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0"/>
            <a:ext cx="12192001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09130" y="2732612"/>
            <a:ext cx="5773737" cy="6963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Header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97884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86D1-AC61-C19C-ACE2-40F4DE881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3BD35-3721-C530-FA16-044ABA043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DF5C0-C8DB-D01D-8D80-30C2921B3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FEF83-B6DC-442F-8C0C-381834CAF27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EEB9A-09CB-D653-34CF-B965B8369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en-US"/>
              <a:t>INTERNAL USE ONLY – DO NOT DISTRIBUTE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C26F1-DD73-5212-1BCC-7AA002F9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759B6-AE3A-4F53-8E33-A78115499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80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331F0FC-651F-4855-B9AC-787E925DB3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4" y="0"/>
            <a:ext cx="12188952" cy="568661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98039" y="5939236"/>
            <a:ext cx="11182054" cy="397369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98039" y="6404194"/>
            <a:ext cx="11182054" cy="26969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 201X</a:t>
            </a:r>
          </a:p>
        </p:txBody>
      </p:sp>
    </p:spTree>
    <p:extLst>
      <p:ext uri="{BB962C8B-B14F-4D97-AF65-F5344CB8AC3E}">
        <p14:creationId xmlns:p14="http://schemas.microsoft.com/office/powerpoint/2010/main" val="11378515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530922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908115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1599044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10441762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F2ECD4-2838-44CF-9553-76CBCAE6E4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1501844"/>
            <a:ext cx="10441762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CB1DA38-0854-4769-81B9-9A69E9E224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748065"/>
            <a:ext cx="10441762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402710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777FFED-B929-469F-9805-7A171F98C4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FF3490C5-4D44-4C46-93A1-2690CFE5EA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9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D642F1EE-FFCF-47DC-B915-C276F7C48F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43185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B14F108-0DD5-4CAD-A343-358FF1111C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43185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4BBB80-4947-F358-767D-0B03A745115C}"/>
              </a:ext>
            </a:extLst>
          </p:cNvPr>
          <p:cNvSpPr/>
          <p:nvPr userDrawn="1"/>
        </p:nvSpPr>
        <p:spPr>
          <a:xfrm>
            <a:off x="9525000" y="6120615"/>
            <a:ext cx="1647385" cy="698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790108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3996F89-FE14-4DCF-BCE0-2B444EED24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8" y="1501844"/>
            <a:ext cx="10334185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9989717-760E-4B38-9791-EA9F881009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8" y="1748065"/>
            <a:ext cx="10334185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079663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0955447-DF94-481B-939A-77DEE32468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2246313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40833"/>
            <a:ext cx="10441762" cy="26160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2579593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79706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BEFA0A2-D254-4B28-B833-2F038B9FB13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443538" cy="6308725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6143185" y="365128"/>
            <a:ext cx="5029200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6685835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21645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0877203-8E92-4EBE-BA14-6B431ECD7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0A6A517-FF6A-4BE3-97AF-BB045913C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867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12" descr="A picture containing building, outdoor, sky&#10;&#10;Description generated with high confidence">
            <a:extLst>
              <a:ext uri="{FF2B5EF4-FFF2-40B4-BE49-F238E27FC236}">
                <a16:creationId xmlns:a16="http://schemas.microsoft.com/office/drawing/2014/main" id="{6FE1F56B-7CDD-4C10-A37B-C0C91631F5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88952" cy="6309360"/>
          </a:xfrm>
          <a:prstGeom prst="rect">
            <a:avLst/>
          </a:prstGeom>
        </p:spPr>
      </p:pic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38" imgH="338" progId="TCLayout.ActiveDocument.1">
                  <p:embed/>
                </p:oleObj>
              </mc:Choice>
              <mc:Fallback>
                <p:oleObj name="think-cell Slide" r:id="rId4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8704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35473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3821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3821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3821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84A16D2-D5D3-4ADF-936E-42889F46FDF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3821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3203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3203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83619690-53D1-4CE8-B616-30BEBA75CC6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3203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66507C27-12BD-423F-A9F9-02CCED7173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3203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567C29C0-F65A-4FD2-B940-AEE8DE7F1B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7D90B4A-30C7-424F-9363-5F03DCFB5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9826112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833821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33821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33821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093203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3203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D53ABF8-C275-4010-BD6E-ADEB2F293500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093203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0380570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BC5FBA3-EEEB-4AB6-A2D6-50146426A68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B825D25-91D9-4595-9447-2E5EF39A72F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200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7FB2CEFD-E4B5-4E80-95EA-98351EADE1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07192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CACD5A1F-CCE4-4188-AABE-B9CC3809DEA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07192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D2CEB554-DD5B-4150-A732-35DF68C12A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76184" y="1085389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4A4BDC6-BBAC-4432-B5B8-DD335BD2143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76184" y="2820613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025148B3-CBD5-4544-B929-1F2910AFB26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76184" y="4555838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2867227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82C6FA-5687-4AB5-A97A-55F092021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35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sz="half" idx="1"/>
          </p:nvPr>
        </p:nvSpPr>
        <p:spPr>
          <a:xfrm>
            <a:off x="838200" y="1508761"/>
            <a:ext cx="5181600" cy="4407408"/>
          </a:xfrm>
        </p:spPr>
        <p:txBody>
          <a:bodyPr/>
          <a:lstStyle>
            <a:lvl4pPr marL="1371600" indent="0"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/>
          </p:nvPr>
        </p:nvSpPr>
        <p:spPr>
          <a:xfrm>
            <a:off x="6172200" y="1508761"/>
            <a:ext cx="5000185" cy="4407408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6CFB9EC-7642-474F-A152-957BAEBC9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780347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CD7925-6FBF-4745-83D4-8ECAC86D2D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03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7178847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49303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C389BE3-202F-B972-F0D5-60EAF5E9D5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BDCAEB-653F-A1A3-EAD7-B9ED6D23B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Metronic Pro Light" panose="02000000000000000000" pitchFamily="50" charset="0"/>
                <a:ea typeface="Source Sans Pro Light" panose="020B0403030403020204" pitchFamily="34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55247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">
          <p15:clr>
            <a:srgbClr val="F26B43"/>
          </p15:clr>
        </p15:guide>
        <p15:guide id="2" pos="7491">
          <p15:clr>
            <a:srgbClr val="F26B43"/>
          </p15:clr>
        </p15:guide>
        <p15:guide id="3" pos="211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1298">
          <p15:clr>
            <a:srgbClr val="F26B43"/>
          </p15:clr>
        </p15:guide>
        <p15:guide id="6" orient="horz" pos="1706">
          <p15:clr>
            <a:srgbClr val="F26B43"/>
          </p15:clr>
        </p15:guide>
        <p15:guide id="7" pos="1890">
          <p15:clr>
            <a:srgbClr val="F26B43"/>
          </p15:clr>
        </p15:guide>
        <p15:guide id="8" pos="2071">
          <p15:clr>
            <a:srgbClr val="F26B43"/>
          </p15:clr>
        </p15:guide>
        <p15:guide id="9" pos="3772">
          <p15:clr>
            <a:srgbClr val="F26B43"/>
          </p15:clr>
        </p15:guide>
        <p15:guide id="10" pos="3931">
          <p15:clr>
            <a:srgbClr val="F26B43"/>
          </p15:clr>
        </p15:guide>
        <p15:guide id="11" pos="5632">
          <p15:clr>
            <a:srgbClr val="F26B43"/>
          </p15:clr>
        </p15:guide>
        <p15:guide id="12" pos="581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441762" cy="96075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05585"/>
            <a:ext cx="10441762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15049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3" r:id="rId17"/>
    <p:sldLayoutId id="2147483724" r:id="rId18"/>
    <p:sldLayoutId id="2147483725" r:id="rId19"/>
  </p:sldLayoutIdLst>
  <p:transition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FFFE1_B550567A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7423DB-3196-DCAA-32AC-F876D734DD01}"/>
              </a:ext>
            </a:extLst>
          </p:cNvPr>
          <p:cNvSpPr/>
          <p:nvPr/>
        </p:nvSpPr>
        <p:spPr>
          <a:xfrm>
            <a:off x="383627" y="2093091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5CF46C9-18B7-5922-A904-B33840E96B97}"/>
              </a:ext>
            </a:extLst>
          </p:cNvPr>
          <p:cNvSpPr/>
          <p:nvPr/>
        </p:nvSpPr>
        <p:spPr>
          <a:xfrm>
            <a:off x="383627" y="3430479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3073165-C29E-BE1A-947F-D282BC52D10B}"/>
              </a:ext>
            </a:extLst>
          </p:cNvPr>
          <p:cNvSpPr/>
          <p:nvPr/>
        </p:nvSpPr>
        <p:spPr>
          <a:xfrm>
            <a:off x="383627" y="5340144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790046-93E8-8204-DFC9-96FAB22194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</a:rPr>
              <a:t>WakeMed – CSIC Data Quality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E35621-0D39-0095-1B92-D6939325CFF4}"/>
              </a:ext>
            </a:extLst>
          </p:cNvPr>
          <p:cNvSpPr txBox="1"/>
          <p:nvPr/>
        </p:nvSpPr>
        <p:spPr>
          <a:xfrm>
            <a:off x="334964" y="1258529"/>
            <a:ext cx="283102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>
                <a:solidFill>
                  <a:schemeClr val="accent1"/>
                </a:solidFill>
                <a:latin typeface="Source Sans Pro" panose="020B0503030403020204" pitchFamily="34" charset="0"/>
              </a:rPr>
              <a:t>Data volume</a:t>
            </a:r>
            <a:endParaRPr lang="en-US" sz="2800" b="0" i="0">
              <a:solidFill>
                <a:schemeClr val="accent1"/>
              </a:solidFill>
              <a:latin typeface="Source Sans Pro" panose="020B05030304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5C0A1-6A67-4293-6E2D-4F0DE62248CD}"/>
              </a:ext>
            </a:extLst>
          </p:cNvPr>
          <p:cNvSpPr txBox="1"/>
          <p:nvPr/>
        </p:nvSpPr>
        <p:spPr>
          <a:xfrm>
            <a:off x="4618295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 b="0" i="0">
                <a:solidFill>
                  <a:schemeClr val="accent1"/>
                </a:solidFill>
                <a:latin typeface="Source Sans Pro" panose="020B0503030403020204" pitchFamily="34" charset="0"/>
              </a:rPr>
              <a:t>Work orders by year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7E0404-2136-B3C0-ABB8-8C1B7C9D0D74}"/>
              </a:ext>
            </a:extLst>
          </p:cNvPr>
          <p:cNvSpPr txBox="1"/>
          <p:nvPr/>
        </p:nvSpPr>
        <p:spPr>
          <a:xfrm>
            <a:off x="1914596" y="2307230"/>
            <a:ext cx="943896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assets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76D0F2-51A4-A139-F989-DB9B9B9399E8}"/>
              </a:ext>
            </a:extLst>
          </p:cNvPr>
          <p:cNvSpPr/>
          <p:nvPr/>
        </p:nvSpPr>
        <p:spPr>
          <a:xfrm>
            <a:off x="45804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99k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B47AFE-9EC2-8795-6328-3CB3B52EAF9B}"/>
              </a:ext>
            </a:extLst>
          </p:cNvPr>
          <p:cNvSpPr txBox="1"/>
          <p:nvPr/>
        </p:nvSpPr>
        <p:spPr>
          <a:xfrm>
            <a:off x="1101621" y="2307230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69k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41B333-5DD8-AEE7-B8E9-2B08F5180B4B}"/>
              </a:ext>
            </a:extLst>
          </p:cNvPr>
          <p:cNvSpPr txBox="1"/>
          <p:nvPr/>
        </p:nvSpPr>
        <p:spPr>
          <a:xfrm>
            <a:off x="1914596" y="3663064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work orders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895925-B007-145F-2BDC-C3B85060E1DE}"/>
              </a:ext>
            </a:extLst>
          </p:cNvPr>
          <p:cNvSpPr txBox="1"/>
          <p:nvPr/>
        </p:nvSpPr>
        <p:spPr>
          <a:xfrm>
            <a:off x="1101621" y="3663064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200k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9E1E67-2D88-8D4C-0646-62CF1FB8EDEF}"/>
              </a:ext>
            </a:extLst>
          </p:cNvPr>
          <p:cNvSpPr/>
          <p:nvPr/>
        </p:nvSpPr>
        <p:spPr>
          <a:xfrm>
            <a:off x="150827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62k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PM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398188-37CA-8230-AD81-4F0D702BF3D8}"/>
              </a:ext>
            </a:extLst>
          </p:cNvPr>
          <p:cNvSpPr/>
          <p:nvPr/>
        </p:nvSpPr>
        <p:spPr>
          <a:xfrm>
            <a:off x="255850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40k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Other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3BD05A-62F4-2E13-60CF-AAD05EE5ED5A}"/>
              </a:ext>
            </a:extLst>
          </p:cNvPr>
          <p:cNvSpPr txBox="1"/>
          <p:nvPr/>
        </p:nvSpPr>
        <p:spPr>
          <a:xfrm>
            <a:off x="1914596" y="5575899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 coverage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99D7FC-560C-7FB8-533F-93C8170E5E6B}"/>
              </a:ext>
            </a:extLst>
          </p:cNvPr>
          <p:cNvSpPr txBox="1"/>
          <p:nvPr/>
        </p:nvSpPr>
        <p:spPr>
          <a:xfrm>
            <a:off x="454133" y="5575899"/>
            <a:ext cx="1443092" cy="33961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Jan 2018</a:t>
            </a:r>
            <a:b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</a:b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May 2025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F8E97CF4-96EB-15F1-8F7A-DF5115A5CF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3733103"/>
              </p:ext>
            </p:extLst>
          </p:nvPr>
        </p:nvGraphicFramePr>
        <p:xfrm>
          <a:off x="4156840" y="1907628"/>
          <a:ext cx="7693574" cy="43318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35223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9EB59-77B6-EB42-1CCA-F5660BD3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505296-2C51-BC1D-DA19-60FE1BA2FA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Usability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4BE2F5-F35A-D31F-7105-F047D698F01D}"/>
              </a:ext>
            </a:extLst>
          </p:cNvPr>
          <p:cNvSpPr txBox="1"/>
          <p:nvPr/>
        </p:nvSpPr>
        <p:spPr>
          <a:xfrm>
            <a:off x="424329" y="4870310"/>
            <a:ext cx="402216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Top 5 modalities (across all CSIC participants)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Monitoring Systems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Care and Exam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Infusion Pumps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Respiratory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Surgery</a:t>
            </a:r>
            <a:endParaRPr lang="en-US" sz="1400" b="0" i="0" u="none" strike="noStrike">
              <a:solidFill>
                <a:srgbClr val="000000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837201-933C-68F6-F59C-ED90F527783D}"/>
              </a:ext>
            </a:extLst>
          </p:cNvPr>
          <p:cNvSpPr txBox="1"/>
          <p:nvPr/>
        </p:nvSpPr>
        <p:spPr>
          <a:xfrm>
            <a:off x="5049078" y="4925681"/>
            <a:ext cx="6778487" cy="12772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Top 5 modalities across all CSIC participants. May differ from top 5 modalities for </a:t>
            </a:r>
            <a:r>
              <a:rPr lang="en-US" sz="1100" b="0" i="0" u="none" strike="noStrike" err="1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Wakemed</a:t>
            </a:r>
            <a:endParaRPr lang="en-US">
              <a:solidFill>
                <a:srgbClr val="0C0C0C"/>
              </a:solidFill>
              <a:latin typeface="Source Sans Pro"/>
              <a:ea typeface="Source Sans Pro"/>
            </a:endParaRPr>
          </a:p>
          <a:p>
            <a:pPr marL="228600" indent="-228600">
              <a:buAutoNum type="arabicPeriod"/>
            </a:pPr>
            <a:r>
              <a:rPr lang="en-US" sz="1100">
                <a:solidFill>
                  <a:srgbClr val="000000"/>
                </a:solidFill>
                <a:latin typeface="Source Sans Pro"/>
                <a:ea typeface="Source Sans Pro"/>
              </a:rPr>
              <a:t>Low usability for MTBF because all assets require at least 1 CM event for MTBF calculation, and most assets require at least 2 CM events</a:t>
            </a:r>
          </a:p>
          <a:p>
            <a:pPr marL="228600" indent="-228600" algn="l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% WOs with matching asset = 1 - % orphaned work orders. Orphaned work orders = work orders whose asset ID is not found in the asset dataset</a:t>
            </a:r>
            <a:endParaRPr lang="en-US">
              <a:latin typeface="Source Sans Pro"/>
              <a:ea typeface="Source Sans Pro"/>
            </a:endParaRPr>
          </a:p>
          <a:p>
            <a:pPr marL="228600" indent="-228600" algn="l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Orphaned work orders don’t have a matching asset, so the asset’s modality is unknown. % orphaned work orders and % of WOs with matching assets cannot be calculated for a subset of modalities / makes / models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0C5E1D-6BF4-F86B-2FD9-A9C24749A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05871"/>
              </p:ext>
            </p:extLst>
          </p:nvPr>
        </p:nvGraphicFramePr>
        <p:xfrm>
          <a:off x="382496" y="1395008"/>
          <a:ext cx="11493916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4968">
                  <a:extLst>
                    <a:ext uri="{9D8B030D-6E8A-4147-A177-3AD203B41FA5}">
                      <a16:colId xmlns:a16="http://schemas.microsoft.com/office/drawing/2014/main" val="1910757401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48458127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6224313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29023995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2163262621"/>
                    </a:ext>
                  </a:extLst>
                </a:gridCol>
              </a:tblGrid>
              <a:tr h="364795">
                <a:tc>
                  <a:txBody>
                    <a:bodyPr/>
                    <a:lstStyle/>
                    <a:p>
                      <a:endParaRPr lang="en-US" b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Top 5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770194"/>
                  </a:ext>
                </a:extLst>
              </a:tr>
              <a:tr h="629647">
                <a:tc>
                  <a:txBody>
                    <a:bodyPr/>
                    <a:lstStyle/>
                    <a:p>
                      <a:endParaRPr lang="en-US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11475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age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97%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84230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PMs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6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35%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226116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CMs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0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944374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MTBF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36261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matching asset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A4D1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306053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cycle time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41%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EA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60%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9D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800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9411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E378E-ECCA-2AF8-020B-BCD595DF4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FD428B-0A74-68B6-92C1-8C17EC66F4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Work Order Types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2EB41F-5ABE-44D9-C11C-2E62C1DCC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180717"/>
              </p:ext>
            </p:extLst>
          </p:nvPr>
        </p:nvGraphicFramePr>
        <p:xfrm>
          <a:off x="4374587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Preventive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29,431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Planned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19,451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12,682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PM unscheduled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140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00664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New Equipment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12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Total PM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61,716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30.8%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01D339A-B942-E508-5DCA-8E33396F1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642516"/>
              </p:ext>
            </p:extLst>
          </p:nvPr>
        </p:nvGraphicFramePr>
        <p:xfrm>
          <a:off x="8513350" y="1940258"/>
          <a:ext cx="3292709" cy="3551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88068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12,682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Onboarding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6,218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86760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Administrative Time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5,268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Safety Test Non Hosp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4,328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Disposal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2,085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1,896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0.9%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Recall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1,114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678303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Biomed Loaner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105490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Remove from Service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2039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Rad Physicist Survey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97291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Scopes and Instruments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613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41878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NPO Short Term Demo/Rental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36295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589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1345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Middle Room - Raleigh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536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409197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Alert/Recall Inspection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506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02793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Checkout Disp (Accessory)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471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802575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Physics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                    294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574688"/>
                  </a:ext>
                </a:extLst>
              </a:tr>
              <a:tr h="9306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Other</a:t>
                      </a:r>
                      <a:r>
                        <a:rPr lang="en-US" sz="1100" b="0" i="0" u="none" strike="noStrike" kern="1200" baseline="300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1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587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58720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40,046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20.0%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1034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9B1B91A-5944-238F-2A57-9A6B5F9D60FD}"/>
              </a:ext>
            </a:extLst>
          </p:cNvPr>
          <p:cNvSpPr txBox="1"/>
          <p:nvPr/>
        </p:nvSpPr>
        <p:spPr>
          <a:xfrm>
            <a:off x="8414597" y="6120332"/>
            <a:ext cx="347895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/>
          <a:p>
            <a:pPr algn="l"/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1. Gemba - Service, Education / Inservice, Incident Investigation, Software/Firmware Upgrade, Nuvolo Project, Raleigh </a:t>
            </a:r>
            <a:r>
              <a:rPr lang="en-US" sz="800" err="1">
                <a:latin typeface="Source Sans Pro" panose="020B0503030403020204" pitchFamily="34" charset="0"/>
                <a:ea typeface="Source Sans Pro" panose="020B0503030403020204" pitchFamily="34" charset="0"/>
              </a:rPr>
              <a:t>OffSites</a:t>
            </a:r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, Vulnerability Remediation, Dept. Rounds, Device Verification, Cary Middle Room, New Equipment Inspection, Tech Support, (Blanks), Upper Southern Route, Lower Southern Route, Equipment Distribution, Calibration Testing, Fireman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9A50C-78C7-6890-2889-160683C3ED74}"/>
              </a:ext>
            </a:extLst>
          </p:cNvPr>
          <p:cNvSpPr txBox="1"/>
          <p:nvPr/>
        </p:nvSpPr>
        <p:spPr>
          <a:xfrm>
            <a:off x="4276344" y="1258529"/>
            <a:ext cx="3561695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Preventive maintenance</a:t>
            </a:r>
            <a:endParaRPr lang="en-US" sz="2600" b="0" i="0">
              <a:solidFill>
                <a:schemeClr val="accent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90F537-E8A4-8B6D-9C6A-731034874CF2}"/>
              </a:ext>
            </a:extLst>
          </p:cNvPr>
          <p:cNvSpPr txBox="1"/>
          <p:nvPr/>
        </p:nvSpPr>
        <p:spPr>
          <a:xfrm>
            <a:off x="8389448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Other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E3FFDF-75CD-F061-D9DA-DE22228D5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80759"/>
              </p:ext>
            </p:extLst>
          </p:nvPr>
        </p:nvGraphicFramePr>
        <p:xfrm>
          <a:off x="429423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Service-Checkout-Repair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53,639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26.8%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Corrective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44,768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22.4%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Incident Investigation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104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Tech Support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Device Related Incident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CM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98,516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49.2%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17499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F1BD04-139C-456F-C665-D136191DB991}"/>
              </a:ext>
            </a:extLst>
          </p:cNvPr>
          <p:cNvSpPr txBox="1"/>
          <p:nvPr/>
        </p:nvSpPr>
        <p:spPr>
          <a:xfrm>
            <a:off x="277834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Corrective maintenance</a:t>
            </a:r>
          </a:p>
        </p:txBody>
      </p:sp>
    </p:spTree>
    <p:extLst>
      <p:ext uri="{BB962C8B-B14F-4D97-AF65-F5344CB8AC3E}">
        <p14:creationId xmlns:p14="http://schemas.microsoft.com/office/powerpoint/2010/main" val="2957044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089F0-4A9F-8929-1433-1075D644F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4482D6-FC7C-CB78-EEC5-7034E48866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CSIC Definitions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EC7D38-C4CB-D62E-1608-55445E6E7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316361"/>
              </p:ext>
            </p:extLst>
          </p:nvPr>
        </p:nvGraphicFramePr>
        <p:xfrm>
          <a:off x="334963" y="1184172"/>
          <a:ext cx="11434250" cy="521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489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3037612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  <a:gridCol w="6537149">
                  <a:extLst>
                    <a:ext uri="{9D8B030D-6E8A-4147-A177-3AD203B41FA5}">
                      <a16:colId xmlns:a16="http://schemas.microsoft.com/office/drawing/2014/main" val="1580066111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KPI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Definition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Observations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 IDs for a given modality, make, customer,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asset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 IDs for a given asset, modality, make,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work order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12861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Work order timeframe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first and last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reported date for each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414053"/>
                  </a:ext>
                </a:extLst>
              </a:tr>
              <a:tr h="3402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since asset install date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 = NULL for assets with unavailable or invalid install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Install dates before 1970 or after today’s date are deemed invalid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3125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work orders with matching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of all work orders for assets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WOs with matching asset = 1 - % orphaned work orders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Orphaned work orders = work orders whose asset ID is not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008424"/>
                  </a:ext>
                </a:extLst>
              </a:tr>
              <a:tr h="9782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MTBF (mean time between failure)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failures for a given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“Failure” is defined as any corrective maintenance event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CM events (“failures”) is based on each CM’s reported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includes time between known CMs. Work orders opened prior to asset install date or after asset retirement are not included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For aggregations (e.g., MTBF of a certain make / model / modality), MTBF is calculated as the sum of time between failure events divided by the sum of failure events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4374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 cycle time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work order open and closed date for a given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work orders with status “Closed Complete” are included in the calculation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86173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Office Theme">
  <a:themeElements>
    <a:clrScheme name="Custom 1">
      <a:dk1>
        <a:srgbClr val="0C0C0C"/>
      </a:dk1>
      <a:lt1>
        <a:srgbClr val="FFFFFF"/>
      </a:lt1>
      <a:dk2>
        <a:srgbClr val="005BA6"/>
      </a:dk2>
      <a:lt2>
        <a:srgbClr val="004A84"/>
      </a:lt2>
      <a:accent1>
        <a:srgbClr val="003763"/>
      </a:accent1>
      <a:accent2>
        <a:srgbClr val="009CF4"/>
      </a:accent2>
      <a:accent3>
        <a:srgbClr val="00CBB7"/>
      </a:accent3>
      <a:accent4>
        <a:srgbClr val="EEEEF0"/>
      </a:accent4>
      <a:accent5>
        <a:srgbClr val="FFFFFF"/>
      </a:accent5>
      <a:accent6>
        <a:srgbClr val="FFFFFF"/>
      </a:accent6>
      <a:hlink>
        <a:srgbClr val="FFFFFF"/>
      </a:hlink>
      <a:folHlink>
        <a:srgbClr val="0C0C0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t">
        <a:normAutofit/>
      </a:bodyPr>
      <a:lstStyle>
        <a:defPPr algn="l">
          <a:defRPr sz="1800" b="0" i="0" dirty="0" smtClean="0">
            <a:solidFill>
              <a:schemeClr val="tx1">
                <a:lumMod val="65000"/>
                <a:lumOff val="35000"/>
              </a:schemeClr>
            </a:solidFill>
            <a:latin typeface="Metronic Pro Air" panose="02000000000000000000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Theme">
  <a:themeElements>
    <a:clrScheme name="Sphera 2018 Color Palette">
      <a:dk1>
        <a:sysClr val="windowText" lastClr="000000"/>
      </a:dk1>
      <a:lt1>
        <a:sysClr val="window" lastClr="FFFFFF"/>
      </a:lt1>
      <a:dk2>
        <a:srgbClr val="848484"/>
      </a:dk2>
      <a:lt2>
        <a:srgbClr val="BBBBBB"/>
      </a:lt2>
      <a:accent1>
        <a:srgbClr val="33BB44"/>
      </a:accent1>
      <a:accent2>
        <a:srgbClr val="009BDE"/>
      </a:accent2>
      <a:accent3>
        <a:srgbClr val="005487"/>
      </a:accent3>
      <a:accent4>
        <a:srgbClr val="F58220"/>
      </a:accent4>
      <a:accent5>
        <a:srgbClr val="398686"/>
      </a:accent5>
      <a:accent6>
        <a:srgbClr val="DD665D"/>
      </a:accent6>
      <a:hlink>
        <a:srgbClr val="005487"/>
      </a:hlink>
      <a:folHlink>
        <a:srgbClr val="009BDE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hera 2019 PPT Template" id="{2DF552D5-0484-49C0-A169-9F2210CE2A4C}" vid="{3235EEC5-187F-41FB-AF93-04CC8B0FEE0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227cf3-3638-4cd2-82bc-03e747e07e3a">
      <Terms xmlns="http://schemas.microsoft.com/office/infopath/2007/PartnerControls"/>
    </lcf76f155ced4ddcb4097134ff3c332f>
    <TaxCatchAll xmlns="305e2bbd-039d-4372-8882-af49759a958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04BADD5DD41346B344211051C029CC" ma:contentTypeVersion="12" ma:contentTypeDescription="Create a new document." ma:contentTypeScope="" ma:versionID="753abe53e23f063a35382104da829f22">
  <xsd:schema xmlns:xsd="http://www.w3.org/2001/XMLSchema" xmlns:xs="http://www.w3.org/2001/XMLSchema" xmlns:p="http://schemas.microsoft.com/office/2006/metadata/properties" xmlns:ns2="ed227cf3-3638-4cd2-82bc-03e747e07e3a" xmlns:ns3="305e2bbd-039d-4372-8882-af49759a958b" targetNamespace="http://schemas.microsoft.com/office/2006/metadata/properties" ma:root="true" ma:fieldsID="2367f18f6754af76b67fc21561517833" ns2:_="" ns3:_="">
    <xsd:import namespace="ed227cf3-3638-4cd2-82bc-03e747e07e3a"/>
    <xsd:import namespace="305e2bbd-039d-4372-8882-af49759a95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227cf3-3638-4cd2-82bc-03e747e07e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00ec100-dda8-4913-b2e9-646a3723c5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5e2bbd-039d-4372-8882-af49759a958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6f68b45-e7da-4c45-a6a5-87c8e674ad7d}" ma:internalName="TaxCatchAll" ma:showField="CatchAllData" ma:web="305e2bbd-039d-4372-8882-af49759a95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Props1.xml><?xml version="1.0" encoding="utf-8"?>
<ds:datastoreItem xmlns:ds="http://schemas.openxmlformats.org/officeDocument/2006/customXml" ds:itemID="{3D5831BA-E3DA-4638-B03B-E5F77F555B84}">
  <ds:schemaRefs>
    <ds:schemaRef ds:uri="ed227cf3-3638-4cd2-82bc-03e747e07e3a"/>
    <ds:schemaRef ds:uri="http://purl.org/dc/terms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305e2bbd-039d-4372-8882-af49759a958b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D274E05-4031-44B0-A3D3-43916EC8FEDB}">
  <ds:schemaRefs>
    <ds:schemaRef ds:uri="305e2bbd-039d-4372-8882-af49759a958b"/>
    <ds:schemaRef ds:uri="ed227cf3-3638-4cd2-82bc-03e747e07e3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ECC7E6E-4153-4C0B-9B35-E28E9914870A}">
  <ds:schemaRefs>
    <ds:schemaRef ds:uri="http://www.plsfix.com/xml"/>
  </ds:schemaRefs>
</ds:datastoreItem>
</file>

<file path=customXml/itemProps4.xml><?xml version="1.0" encoding="utf-8"?>
<ds:datastoreItem xmlns:ds="http://schemas.openxmlformats.org/officeDocument/2006/customXml" ds:itemID="{B8B5A43B-7F98-4BF4-B6A6-5BF0835D71E4}">
  <ds:schemaRefs>
    <ds:schemaRef ds:uri="http://www.plsfix.com/xml"/>
  </ds:schemaRefs>
</ds:datastoreItem>
</file>

<file path=customXml/itemProps5.xml><?xml version="1.0" encoding="utf-8"?>
<ds:datastoreItem xmlns:ds="http://schemas.openxmlformats.org/officeDocument/2006/customXml" ds:itemID="{07CABB94-0D87-4DD7-8E16-7A32E4206A9A}">
  <ds:schemaRefs>
    <ds:schemaRef ds:uri="http://www.plsfix.com/xml"/>
  </ds:schemaRefs>
</ds:datastoreItem>
</file>

<file path=customXml/itemProps6.xml><?xml version="1.0" encoding="utf-8"?>
<ds:datastoreItem xmlns:ds="http://schemas.openxmlformats.org/officeDocument/2006/customXml" ds:itemID="{C41A9309-11DB-4609-9329-6B1C042B5AC1}">
  <ds:schemaRefs>
    <ds:schemaRef ds:uri="http://www.plsfix.com/xml"/>
  </ds:schemaRefs>
</ds:datastoreItem>
</file>

<file path=customXml/itemProps7.xml><?xml version="1.0" encoding="utf-8"?>
<ds:datastoreItem xmlns:ds="http://schemas.openxmlformats.org/officeDocument/2006/customXml" ds:itemID="{74EE6D45-93BF-4CB9-8214-5E7DEECA2A1B}">
  <ds:schemaRefs>
    <ds:schemaRef ds:uri="http://www.plsfix.com/xml"/>
  </ds:schemaRefs>
</ds:datastoreItem>
</file>

<file path=customXml/itemProps8.xml><?xml version="1.0" encoding="utf-8"?>
<ds:datastoreItem xmlns:ds="http://schemas.openxmlformats.org/officeDocument/2006/customXml" ds:itemID="{B13A6903-96B5-4F9E-A8BA-37BBB72B853F}">
  <ds:schemaRefs>
    <ds:schemaRef ds:uri="http://www.plsfix.com/xml"/>
  </ds:schemaRefs>
</ds:datastoreItem>
</file>

<file path=customXml/itemProps9.xml><?xml version="1.0" encoding="utf-8"?>
<ds:datastoreItem xmlns:ds="http://schemas.openxmlformats.org/officeDocument/2006/customXml" ds:itemID="{7F25862F-7843-43F4-9A80-24A9509CAC2D}">
  <ds:schemaRefs>
    <ds:schemaRef ds:uri="http://www.plsfix.com/xml"/>
  </ds:schemaRefs>
</ds:datastoreItem>
</file>

<file path=customXml/itemProps10.xml><?xml version="1.0" encoding="utf-8"?>
<ds:datastoreItem xmlns:ds="http://schemas.openxmlformats.org/officeDocument/2006/customXml" ds:itemID="{F2FBF434-B0DA-4E1E-8906-5BA99B8816CE}">
  <ds:schemaRefs>
    <ds:schemaRef ds:uri="http://www.plsfix.com/xml"/>
  </ds:schemaRefs>
</ds:datastoreItem>
</file>

<file path=customXml/itemProps11.xml><?xml version="1.0" encoding="utf-8"?>
<ds:datastoreItem xmlns:ds="http://schemas.openxmlformats.org/officeDocument/2006/customXml" ds:itemID="{828635FF-478D-404D-B7CA-D1169973462E}">
  <ds:schemaRefs>
    <ds:schemaRef ds:uri="http://www.plsfix.com/xml"/>
  </ds:schemaRefs>
</ds:datastoreItem>
</file>

<file path=customXml/itemProps12.xml><?xml version="1.0" encoding="utf-8"?>
<ds:datastoreItem xmlns:ds="http://schemas.openxmlformats.org/officeDocument/2006/customXml" ds:itemID="{58C01AC7-23C1-460B-B5B9-2C40C11B2617}">
  <ds:schemaRefs>
    <ds:schemaRef ds:uri="http://www.plsfix.com/xml"/>
  </ds:schemaRefs>
</ds:datastoreItem>
</file>

<file path=customXml/itemProps13.xml><?xml version="1.0" encoding="utf-8"?>
<ds:datastoreItem xmlns:ds="http://schemas.openxmlformats.org/officeDocument/2006/customXml" ds:itemID="{0A3C918B-04FF-4CFA-B21A-3FFE491DF0CD}">
  <ds:schemaRefs>
    <ds:schemaRef ds:uri="http://www.plsfix.com/xml"/>
  </ds:schemaRefs>
</ds:datastoreItem>
</file>

<file path=customXml/itemProps14.xml><?xml version="1.0" encoding="utf-8"?>
<ds:datastoreItem xmlns:ds="http://schemas.openxmlformats.org/officeDocument/2006/customXml" ds:itemID="{38F1E4B8-550A-4DB6-B014-2A3DDFAD3142}">
  <ds:schemaRefs>
    <ds:schemaRef ds:uri="http://www.plsfix.com/xml"/>
  </ds:schemaRefs>
</ds:datastoreItem>
</file>

<file path=customXml/itemProps15.xml><?xml version="1.0" encoding="utf-8"?>
<ds:datastoreItem xmlns:ds="http://schemas.openxmlformats.org/officeDocument/2006/customXml" ds:itemID="{A60519EC-BEEE-4EF9-88A2-896320287E0E}">
  <ds:schemaRefs>
    <ds:schemaRef ds:uri="http://www.plsfix.com/xml"/>
  </ds:schemaRefs>
</ds:datastoreItem>
</file>

<file path=customXml/itemProps16.xml><?xml version="1.0" encoding="utf-8"?>
<ds:datastoreItem xmlns:ds="http://schemas.openxmlformats.org/officeDocument/2006/customXml" ds:itemID="{87B82157-BFE5-4A01-9EF8-D4EF32ACEC1A}">
  <ds:schemaRefs>
    <ds:schemaRef ds:uri="http://www.plsfix.com/xml"/>
  </ds:schemaRefs>
</ds:datastoreItem>
</file>

<file path=customXml/itemProps17.xml><?xml version="1.0" encoding="utf-8"?>
<ds:datastoreItem xmlns:ds="http://schemas.openxmlformats.org/officeDocument/2006/customXml" ds:itemID="{E8D9EB62-3F26-4FBB-94B2-51F4AE441CC4}">
  <ds:schemaRefs>
    <ds:schemaRef ds:uri="http://www.plsfix.com/xml"/>
  </ds:schemaRefs>
</ds:datastoreItem>
</file>

<file path=customXml/itemProps18.xml><?xml version="1.0" encoding="utf-8"?>
<ds:datastoreItem xmlns:ds="http://schemas.openxmlformats.org/officeDocument/2006/customXml" ds:itemID="{84A4C846-E416-4D3F-B108-6D80541EE49C}">
  <ds:schemaRefs>
    <ds:schemaRef ds:uri="http://www.plsfix.com/xml"/>
  </ds:schemaRefs>
</ds:datastoreItem>
</file>

<file path=customXml/itemProps19.xml><?xml version="1.0" encoding="utf-8"?>
<ds:datastoreItem xmlns:ds="http://schemas.openxmlformats.org/officeDocument/2006/customXml" ds:itemID="{5B643BFA-E932-47AD-A3AB-D0A7C4E18DD6}">
  <ds:schemaRefs>
    <ds:schemaRef ds:uri="http://www.plsfix.com/xml"/>
  </ds:schemaRefs>
</ds:datastoreItem>
</file>

<file path=customXml/itemProps20.xml><?xml version="1.0" encoding="utf-8"?>
<ds:datastoreItem xmlns:ds="http://schemas.openxmlformats.org/officeDocument/2006/customXml" ds:itemID="{59104082-8295-452F-BE75-2902BA46C634}">
  <ds:schemaRefs>
    <ds:schemaRef ds:uri="http://www.plsfix.com/xml"/>
  </ds:schemaRefs>
</ds:datastoreItem>
</file>

<file path=customXml/itemProps21.xml><?xml version="1.0" encoding="utf-8"?>
<ds:datastoreItem xmlns:ds="http://schemas.openxmlformats.org/officeDocument/2006/customXml" ds:itemID="{5E1A7A58-309E-49F4-BA68-1FA15361881E}">
  <ds:schemaRefs>
    <ds:schemaRef ds:uri="http://www.plsfix.com/xml"/>
  </ds:schemaRefs>
</ds:datastoreItem>
</file>

<file path=customXml/itemProps22.xml><?xml version="1.0" encoding="utf-8"?>
<ds:datastoreItem xmlns:ds="http://schemas.openxmlformats.org/officeDocument/2006/customXml" ds:itemID="{5DFE07D7-0DD9-4A5F-B984-296D0FBE67C5}">
  <ds:schemaRefs>
    <ds:schemaRef ds:uri="http://www.plsfix.com/xml"/>
  </ds:schemaRefs>
</ds:datastoreItem>
</file>

<file path=customXml/itemProps23.xml><?xml version="1.0" encoding="utf-8"?>
<ds:datastoreItem xmlns:ds="http://schemas.openxmlformats.org/officeDocument/2006/customXml" ds:itemID="{31CE4C44-F069-4B7F-A881-0377701506DE}">
  <ds:schemaRefs>
    <ds:schemaRef ds:uri="http://www.plsfix.com/xml"/>
  </ds:schemaRefs>
</ds:datastoreItem>
</file>

<file path=customXml/itemProps24.xml><?xml version="1.0" encoding="utf-8"?>
<ds:datastoreItem xmlns:ds="http://schemas.openxmlformats.org/officeDocument/2006/customXml" ds:itemID="{1DE82953-D47B-45A4-9882-FD41834A7F08}">
  <ds:schemaRefs>
    <ds:schemaRef ds:uri="http://schemas.microsoft.com/sharepoint/v3/contenttype/forms"/>
  </ds:schemaRefs>
</ds:datastoreItem>
</file>

<file path=customXml/itemProps25.xml><?xml version="1.0" encoding="utf-8"?>
<ds:datastoreItem xmlns:ds="http://schemas.openxmlformats.org/officeDocument/2006/customXml" ds:itemID="{9E6E9ADE-525F-4245-ADFB-B08457E9EEB4}">
  <ds:schemaRefs>
    <ds:schemaRef ds:uri="http://www.plsfix.com/xml"/>
  </ds:schemaRefs>
</ds:datastoreItem>
</file>

<file path=customXml/itemProps26.xml><?xml version="1.0" encoding="utf-8"?>
<ds:datastoreItem xmlns:ds="http://schemas.openxmlformats.org/officeDocument/2006/customXml" ds:itemID="{79BEAC8D-69D2-40DA-A09A-F47667E6E9FE}">
  <ds:schemaRefs>
    <ds:schemaRef ds:uri="http://www.plsfix.com/xm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837</Words>
  <Application>Microsoft Office PowerPoint</Application>
  <PresentationFormat>Widescreen</PresentationFormat>
  <Paragraphs>196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7" baseType="lpstr">
      <vt:lpstr>Aptos</vt:lpstr>
      <vt:lpstr>Aptos Narrow</vt:lpstr>
      <vt:lpstr>Arial</vt:lpstr>
      <vt:lpstr>Calibri</vt:lpstr>
      <vt:lpstr>Franklin Gothic Book</vt:lpstr>
      <vt:lpstr>Franklin Gothic Medium</vt:lpstr>
      <vt:lpstr>Metronic Pro Air</vt:lpstr>
      <vt:lpstr>Metronic Pro Light</vt:lpstr>
      <vt:lpstr>Source Sans Pro</vt:lpstr>
      <vt:lpstr>Uni Neue Book</vt:lpstr>
      <vt:lpstr>2_Office Theme</vt:lpstr>
      <vt:lpstr>5_Office Theme</vt:lpstr>
      <vt:lpstr>think-cell Slide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Brennan</dc:creator>
  <cp:lastModifiedBy>Felipe Platzer</cp:lastModifiedBy>
  <cp:revision>1</cp:revision>
  <dcterms:created xsi:type="dcterms:W3CDTF">2024-08-07T16:29:21Z</dcterms:created>
  <dcterms:modified xsi:type="dcterms:W3CDTF">2025-11-12T23:24:40Z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0x010100E704BADD5DD41346B344211051C029CC</vt:lpwstr>
  </property>
  <property fmtid="{D5CDD505-2E9C-101B-9397-08002B2CF9AE}" pid="3" name="MediaServiceImageTags">
    <vt:lpwstr/>
  </property>
</Properties>
</file>